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mark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B122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35527" y="1389888"/>
            <a:ext cx="5120640" cy="384048"/>
          </a:xfrm>
          <a:prstGeom prst="roundRect">
            <a:avLst>
              <a:gd name="adj" fmla="val 50000"/>
            </a:avLst>
          </a:prstGeom>
          <a:solidFill>
            <a:srgbClr val="111C2E">
              <a:alpha val="70000"/>
            </a:srgbClr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35527" y="14630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 spc="140">
                <a:solidFill>
                  <a:srgbClr val="F2F7FD"/>
                </a:solidFill>
                <a:latin typeface="JetBrains Mono"/>
              </a:rPr>
              <a:t>AI-МАРКЕТИНГОВОЕ АГЕНТСТВО · OSMOSY VECTOR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38B2F8"/>
                </a:solidFill>
                <a:latin typeface="Inter Display"/>
              </a:rPr>
              <a:t>Vector Marketing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4248" y="299923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0" i="0">
                <a:solidFill>
                  <a:srgbClr val="F2F7FD"/>
                </a:solidFill>
                <a:latin typeface="Inter"/>
              </a:rPr>
              <a:t>19 профильных агентов под управлением Osmosy (CMO-оркестратор) — стратегия, привлечение, упаковка, удержание, операции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агентов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170+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навыков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PM-методик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JetBrains Mono"/>
              </a:rPr>
              <a:t>github.com/Osmosy/vector-marketing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3048" y="630936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21" name="Picture 20" descr="vector_ray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Агентство без офиса: 19 агентов, один CMO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BC"/>
                </a:solidFill>
                <a:latin typeface="Inter"/>
              </a:rPr>
              <a:t>Маркетинговое агентство на базе Hermes Agent: клиент ставит бизнес-задачу, CMO-оркестратор декомпозирует её и делегирует профильным агентам.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19 агентов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Стратегия: market-research,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analytics. Привлечение: performance,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Директ, SEO, VK, Авито, МП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Упаковка: лендинги, контент, SMM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Company Brain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7 файлов общего контекста: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голос бренда, anti-slop,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ICP, офферы, барьеры,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данные о компании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19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Human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Публикация, бюджет, outreach 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только после подтверждения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человеком. Агент не тратит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деньги сам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2 / 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02 · ЗАЧЕМ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Как обычно устроен маркетинг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Дорого и медленно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Агентство full-service: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ретейнер + медиабаинг 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дизайн. Месяц на запуск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кампании, большой бюджет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Фриланс-зоопарк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SEO-шник, таргетолог 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дизайнер не разговаривают.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Никто не видит воронку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целиком — каждый свой кусок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Данные не работают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Wordstat, Метрика, MPSTATS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не собираются в единую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картину. Решения — по интуиции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 «как в прошлый раз»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074920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5074920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Что должно быть по-другому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Одна система видит всю воронку: от спроса в Wordstat до ROMI в отчёте — без потерь на стыках между исполнителями.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Скорость: исследования и медиапланы собираются за часы, а не недели; дешёвые smoke-тесты идут до больших бюджетов.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62453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Каждое внешнее действие — под контролем человека: агент предлагает, человек утверждает.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3 / 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03 · 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Оркестратор + профильные агенты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CMO-оркестратор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Osmosy принимает задачу,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декомпозирует, делегирует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параллельно, проверяет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противоречия между агентами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Профильные агенты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19 агентов, у каждого: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свой профиль Hermes,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skills, MCP-инструменты,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правила и guardrails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Полный цикл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Стратегия → привлечение 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упаковка → удержание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операции. От исследования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рынка до отчёта по ROMI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074920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5074920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Главный принцип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Контекст ценнее ботов: Company Brain — общая база знаний, без неё агенты дают генерик. Заполняется под бизнес клиента.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Агенты не работают вслепую: handoff-протокол передаёт выводы между агентами, противоречия разрешает оркестратор.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62453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Контур качества: draft → check → retry. Anti-slop правила на каждый драфт, human sign-off на внешние действия.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4 / 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Три слоя: Context → Harness →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45720" cy="13716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185415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Context — что модель видит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58775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company-brain/: brand-voice, anti-slop-rules, ICP, офферы, данные о бизнесе. Без контекста — генерик-выпуск; с контекстом — агент говорит голосом бренда клиента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02152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502152"/>
            <a:ext cx="45720" cy="13716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721608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Harness — что позволяет действовать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12394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agents/*.md (19 ролей) + Hermes profile + 170+ skills + MCP-инструменты: Яндекс Метрика/Директ API, MPSTATS, ДaData, Wordstat, карты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38344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038344"/>
            <a:ext cx="45720" cy="13716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25780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Loop — как обеспечивается качество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5660136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draft → check → retry: anti-slop чеклист, взаимная проверка агентов, handoff-протокол, cron-ритм. Red-team стратегии обязателен перед выдачей клиенту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5 / 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05 · СОСТАВ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19 агентов — 5 блоков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45720" cy="9144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939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СТРАТЕГИЯ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4963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market-research (рынок, спрос, ICP, CJM, конкуренты, интервью) · analytics (метрики, воронки, A/B, NSM, дашборды)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16936"/>
            <a:ext cx="11064240" cy="1234440"/>
          </a:xfrm>
          <a:prstGeom prst="roundRect">
            <a:avLst>
              <a:gd name="adj" fmla="val 666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916936"/>
            <a:ext cx="45720" cy="12344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136391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ПРИВЛЕЧЕНИЕ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53872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performance (медиапланы, pre-mortem, GTM) · yandex-direct · seo (GEO/AEO) · vk-ads · avito · marketplaces (Ozon/WB)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79392"/>
            <a:ext cx="11064240" cy="1234440"/>
          </a:xfrm>
          <a:prstGeom prst="roundRect">
            <a:avLst>
              <a:gd name="adj" fmla="val 666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279392"/>
            <a:ext cx="45720" cy="12344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498848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УПАКОВКА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901183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landing-cro (лендинги, CRO, 152-ФЗ) · content (контент-планы, нейминг) · smm-telegram · creative · presentation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641848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5641848"/>
            <a:ext cx="45720" cy="105156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86130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УДЕРЖАНИЕ + ОПЕРАЦИИ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626364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crm-retention (RFM + когорты) · reputation (отзывы, карты) · sales · support · ops (NDA, стейкхолдеры)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5 / 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06 · МЕТОДИКИ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29 PM-скиллов: метод, а не промпт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Исследования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TAM/SAM/SOM: Wordstat,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MPSTATS, ДaData, Росстат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ICP и CJM как деливераблы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Конкуренты: библиотека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Директа, отзывы, МП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Гипотезы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Карта допущений: 8 категорий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Матрица Impact ×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Smoke-тесты: TG-пост,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лендинг+Директ, карточка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61188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WB/Ozon без рекламы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Метрики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North Star + дерево метрик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A/B: мощность, SRM,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guardrails, ship/extend/stop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Когорты и RFM: retention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61188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кривые из CSV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074920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074920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29 методик PM Skills Marketplace + адаптация РФ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Источник: github.com/phuryn/pm-skills (MIT, The Product Compass). Взято 29 из 68 — остальные дубли или SDLC-домен.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Каждый скилл адаптирован под РФ: источники данных (Wordstat вместо Google Trends), юнит-экономика маркетплейсов, 152-ФЗ в политиках, Роспатент в нейминге, право РФ в NDA.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6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07 · ГИПОТЕЗНЫЙ ЦИКЛ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Проверка спроса до бюджета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384048"/>
          </a:xfrm>
          <a:prstGeom prst="roundRect">
            <a:avLst>
              <a:gd name="adj" fmla="val 21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Шаг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2384" y="1965960"/>
            <a:ext cx="585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Что происходит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07424" y="1965960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Кто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313432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414015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1 · Допущения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2384" y="2414015"/>
            <a:ext cx="585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identify-assumptions: рисковые допущения продукта/кампании по 8 категориям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07424" y="2414015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market-research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935224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03580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2 · Приоритизация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2384" y="3035808"/>
            <a:ext cx="585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prioritize-assumptions: матрица Impact × Risk — что тестировать первым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7424" y="3035808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market-research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557015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657599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3 · Smoke-тест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72384" y="3657599"/>
            <a:ext cx="585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Wordstat → TG-пост в нише → лендинг + Директ → карточка МП без рекламы (3-5 дней)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657599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market-research → performance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178807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4279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4 · Разбор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72384" y="4279392"/>
            <a:ext cx="585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ab-test-analysis: мощность, значимость, guardrails → ship / extend / stop / revert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4279392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analytics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800599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4901183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5 · Масштаб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72384" y="4901183"/>
            <a:ext cx="585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Медиаплан + pre-mortem рисков перед стартом; growth-loops снижают зависимость от paid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424" y="4901183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performance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53212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532120"/>
            <a:ext cx="45720" cy="105156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7515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Правило бюджета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61539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Никакого полного медиаплана до smoke-сигнала: сначала дешёвый тест на сотнях рублей, потом решение о тысячах.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7 / 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08 · КОНТУР КАЧЕСТВА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Draft → check → retry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45720" cy="9144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939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Loop: draft → check → retry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4963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Anti-slop чеклист на каждый драфт; агент не публикует сам — проверяет и переписывает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16936"/>
            <a:ext cx="11064240" cy="1234440"/>
          </a:xfrm>
          <a:prstGeom prst="roundRect">
            <a:avLst>
              <a:gd name="adj" fmla="val 666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916936"/>
            <a:ext cx="45720" cy="12344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136391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Red-team стратегий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53872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orchestrator обязан прогнать стратегию через strategy-red-team: стилман → атака несущих допущений → failure modes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79392"/>
            <a:ext cx="11064240" cy="1234440"/>
          </a:xfrm>
          <a:prstGeom prst="roundRect">
            <a:avLst>
              <a:gd name="adj" fmla="val 666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279392"/>
            <a:ext cx="45720" cy="12344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498848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Pre-mortem кампании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901183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performance: Tigers (реальные риски) / Paper Tigers (раздутые) / Elephants (неозвученные) до старта медиаплана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641848"/>
            <a:ext cx="11064240" cy="868680"/>
          </a:xfrm>
          <a:prstGeom prst="roundRect">
            <a:avLst>
              <a:gd name="adj" fmla="val 9473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5641848"/>
            <a:ext cx="45720" cy="86868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86130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Human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626364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Все внешние действия: публикация, рассылки, бюджет, доступы — только через подтверждение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8 / 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09 · ИНСТРУМЕНТЫ РФ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Российские источники, не западные шаблоны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Спрос и рынок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Яндекс Wordstat: объём,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сезонность, минус-слова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MPSTATS/Moneyplace: выручка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категорий WB/Ozon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ДaData: компании, ОКВЭД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Реклама и аналитика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Яндекс Метрика + Директ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VK Ads пиксель и аудитории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A/B: статистический разбор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Когорты: retention-кривые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Право и комплаенс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152-ФЗ: согласие, локализация,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реестр РКН, утечки 24/72ч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NDA: режим КТ по ФЗ-98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Роспатент/МКТУ в нейминге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74920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5074920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Российские источники вместо западных дефолтов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Wordstat вместо Google Trends, MPSTATS вместо SEMrush, ДaData вместо Crunchbase, Яндекс Карты вместо Google Maps.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Каждый методический скилл проверен на применимость в РФ: западные практики (Van Westendorp, ABM, PLG) заменены или ограничены там, где не работают.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9 / 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10 · ДЕЛИВЕРАБЛЫ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получает клиент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384048"/>
          </a:xfrm>
          <a:prstGeom prst="roundRect">
            <a:avLst>
              <a:gd name="adj" fmla="val 21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Продукт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46704" y="19659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Состав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07424" y="1965960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Срок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313432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414015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Стратегия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2414015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Объём рынка в деньгах, ICP, CJM, позиционирование, офферы, гипотезы — red-team пройден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07424" y="2414015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от часов до дней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26663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127247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GTM-план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6704" y="3127247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Канальная матрица РФ, метрики запуска (ДРР, CPL), pre-mortem рисков, бюджет по этапам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7424" y="3127247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дни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39896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840480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Проверка гипотез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6704" y="384048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Smoke-тест: лендинг + Директ / TG-интеграция / карточка МП — с вердиктом go/no-go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840480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3-5 дней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453128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4553712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Лендинг + упаковка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6704" y="455371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HTML-лендинг с 152-ФЗ, A/B-гипотезы, нейминг с проверкой Роспатента, контент-план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4553712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дни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5266944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Retention-контур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5266944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RFM-сегментация + когортные кривые, цепочки welcome/reactivation, чёрный ящик метрик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424" y="5266944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непрерывно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9 / 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11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83080"/>
            <a:ext cx="45720" cy="9144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0253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Сейчас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40487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29 PM-скиллов в 4 группах, 19 агентов, 170+ навыков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67919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Живая архитектурная диаграмма (Archify) + визуальная верификация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360"/>
            <a:ext cx="11064240" cy="1280160"/>
          </a:xfrm>
          <a:prstGeom prst="roundRect">
            <a:avLst>
              <a:gd name="adj" fmla="val 6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880360"/>
            <a:ext cx="45720" cy="128016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099815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Следующий шаг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350215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Прогон агентства на реальном клиенте: полный цикл от брифа до отчёта ROMI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377647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Company Brain под конкретный бизнес — контекст решает качество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343400"/>
            <a:ext cx="11064240" cy="1005840"/>
          </a:xfrm>
          <a:prstGeom prst="roundRect">
            <a:avLst>
              <a:gd name="adj" fmla="val 8181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343400"/>
            <a:ext cx="45720" cy="10058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5628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Экосистема Vector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9651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Связка с vector-prediction (прогноз спроса) и vector-work (роли)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52395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Единый слой Company Brain для всех продуктов Osmosy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12 / 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Hermes Agent · Osmosy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27048" y="182880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38B2F8"/>
                </a:solidFill>
                <a:latin typeface="Inter Display"/>
              </a:rPr>
              <a:t>19 агентов · 29 методик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28803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2F7FD"/>
                </a:solidFill>
                <a:latin typeface="Inter"/>
              </a:rPr>
              <a:t>полный цикл маркетинга: от исследования рынка до отчёта по ROMI — с human approval на каждом внешнем действии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3977639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2F7FD"/>
                </a:solidFill>
                <a:latin typeface="Inter Display"/>
              </a:rPr>
              <a:t>Контекст — валюта. Агенты — исполнители. Человек — решение.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7448" y="4800600"/>
            <a:ext cx="2743200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41448" y="51663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38B2F8"/>
                </a:solidFill>
                <a:latin typeface="JetBrains Mono"/>
              </a:rPr>
              <a:t>github.com/Osmosy/vector-marketing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4248" y="6263640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Inter"/>
              </a:rPr>
              <a:t>Context → Harness → Loop · Human approval на внешние действия · адаптация всех методик под рынок РФ</a:t>
            </a:r>
          </a:p>
        </p:txBody>
      </p:sp>
      <p:pic>
        <p:nvPicPr>
          <p:cNvPr id="10" name="Picture 9" descr="vector_ra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